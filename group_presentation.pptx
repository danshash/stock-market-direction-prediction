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50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FFFFFF"/>
                </a:solidFill>
                <a:latin typeface="Arial"/>
              </a:rPr>
              <a:t>ROC Curve  (AUC = 0.5124)</a:t>
            </a:r>
          </a:p>
        </c:rich>
      </c:tx>
      <c:layout>
        <c:manualLayout>
          <c:xMode val="edge"/>
          <c:yMode val="edge"/>
          <c:x val="0.26894709894217766"/>
          <c:y val="2.9239766081871343E-2"/>
        </c:manualLayout>
      </c:layout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Decision Tree</c:v>
                </c:pt>
              </c:strCache>
            </c:strRef>
          </c:tx>
          <c:spPr>
            <a:ln w="25400" cap="flat">
              <a:solidFill>
                <a:srgbClr val="4FC3F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FC3F7"/>
              </a:solidFill>
              <a:ln w="9525" cap="flat">
                <a:solidFill>
                  <a:srgbClr val="4FC3F7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0.0</c:v>
                </c:pt>
                <c:pt idx="1">
                  <c:v>0.2</c:v>
                </c:pt>
                <c:pt idx="2">
                  <c:v>0.4</c:v>
                </c:pt>
                <c:pt idx="3">
                  <c:v>0.6</c:v>
                </c:pt>
                <c:pt idx="4">
                  <c:v>0.8</c:v>
                </c:pt>
                <c:pt idx="5">
                  <c:v>1.0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0.18</c:v>
                </c:pt>
                <c:pt idx="2">
                  <c:v>0.4</c:v>
                </c:pt>
                <c:pt idx="3">
                  <c:v>0.6</c:v>
                </c:pt>
                <c:pt idx="4">
                  <c:v>0.78</c:v>
                </c:pt>
                <c:pt idx="5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E76-4B27-955A-A498CB3FA17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Chance</c:v>
                </c:pt>
              </c:strCache>
            </c:strRef>
          </c:tx>
          <c:spPr>
            <a:ln w="25400" cap="flat">
              <a:solidFill>
                <a:srgbClr val="55555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555555"/>
              </a:solidFill>
              <a:ln w="9525" cap="flat">
                <a:solidFill>
                  <a:srgbClr val="555555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0.0</c:v>
                </c:pt>
                <c:pt idx="1">
                  <c:v>0.2</c:v>
                </c:pt>
                <c:pt idx="2">
                  <c:v>0.4</c:v>
                </c:pt>
                <c:pt idx="3">
                  <c:v>0.6</c:v>
                </c:pt>
                <c:pt idx="4">
                  <c:v>0.8</c:v>
                </c:pt>
                <c:pt idx="5">
                  <c:v>1.0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0.2</c:v>
                </c:pt>
                <c:pt idx="2">
                  <c:v>0.4</c:v>
                </c:pt>
                <c:pt idx="3">
                  <c:v>0.6</c:v>
                </c:pt>
                <c:pt idx="4">
                  <c:v>0.8</c:v>
                </c:pt>
                <c:pt idx="5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E76-4B27-955A-A498CB3FA1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CC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2A3A5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C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2A50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A8C4E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E2A5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FFFFFF"/>
                </a:solidFill>
                <a:latin typeface="Arial"/>
              </a:rPr>
              <a:t>Precision–Recall Curve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Decision Tree</c:v>
                </c:pt>
              </c:strCache>
            </c:strRef>
          </c:tx>
          <c:spPr>
            <a:ln w="25400" cap="flat">
              <a:solidFill>
                <a:srgbClr val="F0B42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0B429"/>
              </a:solidFill>
              <a:ln w="9525" cap="flat">
                <a:solidFill>
                  <a:srgbClr val="F0B429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0.0</c:v>
                </c:pt>
                <c:pt idx="1">
                  <c:v>0.2</c:v>
                </c:pt>
                <c:pt idx="2">
                  <c:v>0.4</c:v>
                </c:pt>
                <c:pt idx="3">
                  <c:v>0.6</c:v>
                </c:pt>
                <c:pt idx="4">
                  <c:v>0.8</c:v>
                </c:pt>
                <c:pt idx="5">
                  <c:v>1.0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0.56000000000000005</c:v>
                </c:pt>
                <c:pt idx="1">
                  <c:v>0.55000000000000004</c:v>
                </c:pt>
                <c:pt idx="2">
                  <c:v>0.54</c:v>
                </c:pt>
                <c:pt idx="3">
                  <c:v>0.54</c:v>
                </c:pt>
                <c:pt idx="4">
                  <c:v>0.53</c:v>
                </c:pt>
                <c:pt idx="5">
                  <c:v>0.52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705-4FDA-9492-6AD5E739DD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CC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65"/>
          <c:min val="0.45"/>
        </c:scaling>
        <c:delete val="0"/>
        <c:axPos val="l"/>
        <c:majorGridlines>
          <c:spPr>
            <a:ln w="6350" cap="flat">
              <a:solidFill>
                <a:srgbClr val="2A3A5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C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2A50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E2A5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FFFFFF"/>
                </a:solidFill>
                <a:latin typeface="Arial"/>
              </a:rPr>
              <a:t>ROC Curve  (AUC = 0.5040)</a:t>
            </a:r>
          </a:p>
        </c:rich>
      </c:tx>
      <c:layout>
        <c:manualLayout>
          <c:xMode val="edge"/>
          <c:yMode val="edge"/>
          <c:x val="0.26579053328561203"/>
          <c:y val="2.9239766081871343E-2"/>
        </c:manualLayout>
      </c:layout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Naïve Bayes</c:v>
                </c:pt>
              </c:strCache>
            </c:strRef>
          </c:tx>
          <c:spPr>
            <a:ln w="25400" cap="flat">
              <a:solidFill>
                <a:srgbClr val="43C59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3C59E"/>
              </a:solidFill>
              <a:ln w="9525" cap="flat">
                <a:solidFill>
                  <a:srgbClr val="43C59E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0.0</c:v>
                </c:pt>
                <c:pt idx="1">
                  <c:v>0.2</c:v>
                </c:pt>
                <c:pt idx="2">
                  <c:v>0.4</c:v>
                </c:pt>
                <c:pt idx="3">
                  <c:v>0.6</c:v>
                </c:pt>
                <c:pt idx="4">
                  <c:v>0.8</c:v>
                </c:pt>
                <c:pt idx="5">
                  <c:v>1.0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0.2</c:v>
                </c:pt>
                <c:pt idx="2">
                  <c:v>0.41</c:v>
                </c:pt>
                <c:pt idx="3">
                  <c:v>0.61</c:v>
                </c:pt>
                <c:pt idx="4">
                  <c:v>0.8</c:v>
                </c:pt>
                <c:pt idx="5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B28-4096-822A-136D803E8C0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Chance</c:v>
                </c:pt>
              </c:strCache>
            </c:strRef>
          </c:tx>
          <c:spPr>
            <a:ln w="25400" cap="flat">
              <a:solidFill>
                <a:srgbClr val="55555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555555"/>
              </a:solidFill>
              <a:ln w="9525" cap="flat">
                <a:solidFill>
                  <a:srgbClr val="555555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0.0</c:v>
                </c:pt>
                <c:pt idx="1">
                  <c:v>0.2</c:v>
                </c:pt>
                <c:pt idx="2">
                  <c:v>0.4</c:v>
                </c:pt>
                <c:pt idx="3">
                  <c:v>0.6</c:v>
                </c:pt>
                <c:pt idx="4">
                  <c:v>0.8</c:v>
                </c:pt>
                <c:pt idx="5">
                  <c:v>1.0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0.2</c:v>
                </c:pt>
                <c:pt idx="2">
                  <c:v>0.4</c:v>
                </c:pt>
                <c:pt idx="3">
                  <c:v>0.6</c:v>
                </c:pt>
                <c:pt idx="4">
                  <c:v>0.8</c:v>
                </c:pt>
                <c:pt idx="5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B28-4096-822A-136D803E8C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CC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2A3A5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C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2A50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A8C4E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E2A50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FFFFFF"/>
                </a:solidFill>
                <a:latin typeface="Arial"/>
              </a:rPr>
              <a:t>Precision–Recall Curve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Naïve Bayes</c:v>
                </c:pt>
              </c:strCache>
            </c:strRef>
          </c:tx>
          <c:spPr>
            <a:ln w="25400" cap="flat">
              <a:solidFill>
                <a:srgbClr val="4FC3F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FC3F7"/>
              </a:solidFill>
              <a:ln w="9525" cap="flat">
                <a:solidFill>
                  <a:srgbClr val="4FC3F7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0.0</c:v>
                </c:pt>
                <c:pt idx="1">
                  <c:v>0.2</c:v>
                </c:pt>
                <c:pt idx="2">
                  <c:v>0.4</c:v>
                </c:pt>
                <c:pt idx="3">
                  <c:v>0.6</c:v>
                </c:pt>
                <c:pt idx="4">
                  <c:v>0.8</c:v>
                </c:pt>
                <c:pt idx="5">
                  <c:v>1.0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0.6</c:v>
                </c:pt>
                <c:pt idx="1">
                  <c:v>0.56999999999999995</c:v>
                </c:pt>
                <c:pt idx="2">
                  <c:v>0.55000000000000004</c:v>
                </c:pt>
                <c:pt idx="3">
                  <c:v>0.54</c:v>
                </c:pt>
                <c:pt idx="4">
                  <c:v>0.53</c:v>
                </c:pt>
                <c:pt idx="5">
                  <c:v>0.52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D3-4D7B-86AF-21C5DF795D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CC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65"/>
          <c:min val="0.45"/>
        </c:scaling>
        <c:delete val="0"/>
        <c:axPos val="l"/>
        <c:majorGridlines>
          <c:spPr>
            <a:ln w="6350" cap="flat">
              <a:solidFill>
                <a:srgbClr val="2A3A5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C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2A50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E2A50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FFFFFF"/>
                </a:solidFill>
                <a:latin typeface="Arial"/>
              </a:rPr>
              <a:t>KNN — Accuracy &amp; F1 by k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4FC3F7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k=3</c:v>
                </c:pt>
                <c:pt idx="1">
                  <c:v>k=5</c:v>
                </c:pt>
                <c:pt idx="2">
                  <c:v>k=7</c:v>
                </c:pt>
                <c:pt idx="3">
                  <c:v>k=9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0.50509999999999999</c:v>
                </c:pt>
                <c:pt idx="1">
                  <c:v>0.50380000000000003</c:v>
                </c:pt>
                <c:pt idx="2">
                  <c:v>0.50439999999999996</c:v>
                </c:pt>
                <c:pt idx="3">
                  <c:v>0.504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E6-4CA0-BE64-A3D1F9742A6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F0B429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k=3</c:v>
                </c:pt>
                <c:pt idx="1">
                  <c:v>k=5</c:v>
                </c:pt>
                <c:pt idx="2">
                  <c:v>k=7</c:v>
                </c:pt>
                <c:pt idx="3">
                  <c:v>k=9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0.52880000000000005</c:v>
                </c:pt>
                <c:pt idx="1">
                  <c:v>0.53059999999999996</c:v>
                </c:pt>
                <c:pt idx="2">
                  <c:v>0.53420000000000001</c:v>
                </c:pt>
                <c:pt idx="3">
                  <c:v>0.53590000000000004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0E6-4CA0-BE64-A3D1F9742A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CC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56000000000000005"/>
          <c:min val="0.48"/>
        </c:scaling>
        <c:delete val="0"/>
        <c:axPos val="l"/>
        <c:majorGridlines>
          <c:spPr>
            <a:ln w="6350" cap="flat">
              <a:solidFill>
                <a:srgbClr val="2A3A5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C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2A50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A8C4E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E2A50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4FC3F7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Naïve Bayes</c:v>
                </c:pt>
                <c:pt idx="1">
                  <c:v>Decision Tree</c:v>
                </c:pt>
                <c:pt idx="2">
                  <c:v>KNN (k=3)</c:v>
                </c:pt>
                <c:pt idx="3">
                  <c:v>KNN (k=5)</c:v>
                </c:pt>
                <c:pt idx="4">
                  <c:v>KNN (k=7)</c:v>
                </c:pt>
                <c:pt idx="5">
                  <c:v>KNN (k=9)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0.51959999999999995</c:v>
                </c:pt>
                <c:pt idx="1">
                  <c:v>0.51790000000000003</c:v>
                </c:pt>
                <c:pt idx="2">
                  <c:v>0.50509999999999999</c:v>
                </c:pt>
                <c:pt idx="3">
                  <c:v>0.50380000000000003</c:v>
                </c:pt>
                <c:pt idx="4">
                  <c:v>0.50439999999999996</c:v>
                </c:pt>
                <c:pt idx="5">
                  <c:v>0.504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D1-431F-A2BD-13493A4921F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F0B429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Naïve Bayes</c:v>
                </c:pt>
                <c:pt idx="1">
                  <c:v>Decision Tree</c:v>
                </c:pt>
                <c:pt idx="2">
                  <c:v>KNN (k=3)</c:v>
                </c:pt>
                <c:pt idx="3">
                  <c:v>KNN (k=5)</c:v>
                </c:pt>
                <c:pt idx="4">
                  <c:v>KNN (k=7)</c:v>
                </c:pt>
                <c:pt idx="5">
                  <c:v>KNN (k=9)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0.52510000000000001</c:v>
                </c:pt>
                <c:pt idx="1">
                  <c:v>0.52880000000000005</c:v>
                </c:pt>
                <c:pt idx="2">
                  <c:v>0.5282</c:v>
                </c:pt>
                <c:pt idx="3">
                  <c:v>0.52659999999999996</c:v>
                </c:pt>
                <c:pt idx="4">
                  <c:v>0.52680000000000005</c:v>
                </c:pt>
                <c:pt idx="5">
                  <c:v>0.5262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5D1-431F-A2BD-13493A4921F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43C59E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Naïve Bayes</c:v>
                </c:pt>
                <c:pt idx="1">
                  <c:v>Decision Tree</c:v>
                </c:pt>
                <c:pt idx="2">
                  <c:v>KNN (k=3)</c:v>
                </c:pt>
                <c:pt idx="3">
                  <c:v>KNN (k=5)</c:v>
                </c:pt>
                <c:pt idx="4">
                  <c:v>KNN (k=7)</c:v>
                </c:pt>
                <c:pt idx="5">
                  <c:v>KNN (k=9)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0.87680000000000002</c:v>
                </c:pt>
                <c:pt idx="1">
                  <c:v>0.74380000000000002</c:v>
                </c:pt>
                <c:pt idx="2">
                  <c:v>0.52949999999999997</c:v>
                </c:pt>
                <c:pt idx="3">
                  <c:v>0.53469999999999995</c:v>
                </c:pt>
                <c:pt idx="4">
                  <c:v>0.54179999999999995</c:v>
                </c:pt>
                <c:pt idx="5">
                  <c:v>0.54590000000000005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5D1-431F-A2BD-13493A4921F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A8C4E8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Naïve Bayes</c:v>
                </c:pt>
                <c:pt idx="1">
                  <c:v>Decision Tree</c:v>
                </c:pt>
                <c:pt idx="2">
                  <c:v>KNN (k=3)</c:v>
                </c:pt>
                <c:pt idx="3">
                  <c:v>KNN (k=5)</c:v>
                </c:pt>
                <c:pt idx="4">
                  <c:v>KNN (k=7)</c:v>
                </c:pt>
                <c:pt idx="5">
                  <c:v>KNN (k=9)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0.65690000000000004</c:v>
                </c:pt>
                <c:pt idx="1">
                  <c:v>0.61809999999999998</c:v>
                </c:pt>
                <c:pt idx="2">
                  <c:v>0.52880000000000005</c:v>
                </c:pt>
                <c:pt idx="3">
                  <c:v>0.53059999999999996</c:v>
                </c:pt>
                <c:pt idx="4">
                  <c:v>0.53420000000000001</c:v>
                </c:pt>
                <c:pt idx="5">
                  <c:v>0.53590000000000004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5D1-431F-A2BD-13493A4921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CC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4"/>
        </c:scaling>
        <c:delete val="0"/>
        <c:axPos val="l"/>
        <c:majorGridlines>
          <c:spPr>
            <a:ln w="6350" cap="flat">
              <a:solidFill>
                <a:srgbClr val="2A3A5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C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2A50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A8C4E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E2A5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5913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188720"/>
            <a:ext cx="6949440" cy="2834640"/>
          </a:xfrm>
          <a:prstGeom prst="rect">
            <a:avLst/>
          </a:prstGeom>
          <a:solidFill>
            <a:srgbClr val="1E2A50"/>
          </a:solidFill>
          <a:ln w="12700">
            <a:solidFill>
              <a:srgbClr val="24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1097280" y="1188720"/>
            <a:ext cx="82296" cy="28346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371600" y="141732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Price Direction Prediction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210312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Model Results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71600" y="2542032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 Dataset  |  Decision Tree · KNN · Naïve Bayes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2926080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Course  –  Group 2 – Daniels, Brian, Hector.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420624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next-day closing direction across 505 S&amp;P 500 stocks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 Historical Stock Data (Kaggle)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920240" cy="1005840"/>
          </a:xfrm>
          <a:prstGeom prst="rect">
            <a:avLst/>
          </a:prstGeom>
          <a:solidFill>
            <a:srgbClr val="1E2A50"/>
          </a:solidFill>
          <a:ln w="12700">
            <a:solidFill>
              <a:srgbClr val="24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1920240" cy="5532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619,040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589227"/>
            <a:ext cx="1920240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1005840"/>
            <a:ext cx="1920240" cy="1005840"/>
          </a:xfrm>
          <a:prstGeom prst="rect">
            <a:avLst/>
          </a:prstGeom>
          <a:solidFill>
            <a:srgbClr val="1E2A50"/>
          </a:solidFill>
          <a:ln w="12700">
            <a:solidFill>
              <a:srgbClr val="24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14600" y="1115568"/>
            <a:ext cx="1920240" cy="5532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505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14600" y="1589227"/>
            <a:ext cx="1920240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Stocks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1920240" cy="1005840"/>
          </a:xfrm>
          <a:prstGeom prst="rect">
            <a:avLst/>
          </a:prstGeom>
          <a:solidFill>
            <a:srgbClr val="1E2A50"/>
          </a:solidFill>
          <a:ln w="12700">
            <a:solidFill>
              <a:srgbClr val="24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63440" y="1115568"/>
            <a:ext cx="1920240" cy="5532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63440" y="1589227"/>
            <a:ext cx="1920240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Features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12280" y="1005840"/>
            <a:ext cx="1920240" cy="1005840"/>
          </a:xfrm>
          <a:prstGeom prst="rect">
            <a:avLst/>
          </a:prstGeom>
          <a:solidFill>
            <a:srgbClr val="1E2A50"/>
          </a:solidFill>
          <a:ln w="12700">
            <a:solidFill>
              <a:srgbClr val="24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12280" y="1115568"/>
            <a:ext cx="1920240" cy="5532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812280" y="1589227"/>
            <a:ext cx="1920240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Features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212848"/>
            <a:ext cx="3931920" cy="2560320"/>
          </a:xfrm>
          <a:prstGeom prst="rect">
            <a:avLst/>
          </a:prstGeom>
          <a:solidFill>
            <a:srgbClr val="1E2A50"/>
          </a:solidFill>
          <a:ln w="12700">
            <a:solidFill>
              <a:srgbClr val="24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0352" y="23225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" y="2633472"/>
            <a:ext cx="3657600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high, low, close  (price columns)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 (trading activity)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 (time dimension)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 (stock ticker symbol)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80560" y="2212848"/>
            <a:ext cx="4297680" cy="2560320"/>
          </a:xfrm>
          <a:prstGeom prst="rect">
            <a:avLst/>
          </a:prstGeom>
          <a:solidFill>
            <a:srgbClr val="1E2A50"/>
          </a:solidFill>
          <a:ln w="12700">
            <a:solidFill>
              <a:srgbClr val="24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45152" y="232257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C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45152" y="2633472"/>
            <a:ext cx="4023360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missing values in 'open' column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missing values in 'high' &amp; 'low'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duplicate rows detected</a:t>
            </a:r>
          </a:p>
          <a:p>
            <a:pPr marL="342900" indent="-342900">
              <a:buSzPct val="100000"/>
              <a:buChar char="•"/>
            </a:pP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NaN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records removed after applying Rolling window</a:t>
            </a:r>
          </a:p>
          <a:p>
            <a:pPr marL="342900" indent="-342900">
              <a:buSzPct val="100000"/>
              <a:buChar char="•"/>
            </a:pP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NaN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records removed after creating new features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for next-day direction prediction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2606040" cy="1508760"/>
          </a:xfrm>
          <a:prstGeom prst="rect">
            <a:avLst/>
          </a:prstGeom>
          <a:solidFill>
            <a:srgbClr val="1E2A50"/>
          </a:solidFill>
          <a:ln w="12700">
            <a:solidFill>
              <a:srgbClr val="24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64008" cy="15087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225296"/>
            <a:ext cx="384048" cy="38404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2252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22529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645920"/>
            <a:ext cx="233172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 CSV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619,040 records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505 stocks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17520" y="1851660"/>
            <a:ext cx="182880" cy="0"/>
          </a:xfrm>
          <a:prstGeom prst="line">
            <a:avLst/>
          </a:prstGeom>
          <a:noFill/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0" y="1097280"/>
            <a:ext cx="2606040" cy="1508760"/>
          </a:xfrm>
          <a:prstGeom prst="rect">
            <a:avLst/>
          </a:prstGeom>
          <a:solidFill>
            <a:srgbClr val="1E2A50"/>
          </a:solidFill>
          <a:ln w="12700">
            <a:solidFill>
              <a:srgbClr val="24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0" y="1097280"/>
            <a:ext cx="64008" cy="15087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337560" y="1225296"/>
            <a:ext cx="384048" cy="38404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37560" y="12252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94760" y="122529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1645920"/>
            <a:ext cx="233172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missing prices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date &amp; ticker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06440" y="1851660"/>
            <a:ext cx="182880" cy="0"/>
          </a:xfrm>
          <a:prstGeom prst="line">
            <a:avLst/>
          </a:prstGeom>
          <a:noFill/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989320" y="1097280"/>
            <a:ext cx="2606040" cy="1508760"/>
          </a:xfrm>
          <a:prstGeom prst="rect">
            <a:avLst/>
          </a:prstGeom>
          <a:solidFill>
            <a:srgbClr val="1E2A50"/>
          </a:solidFill>
          <a:ln w="12700">
            <a:solidFill>
              <a:srgbClr val="24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989320" y="1097280"/>
            <a:ext cx="64008" cy="15087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126480" y="1225296"/>
            <a:ext cx="384048" cy="38404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26480" y="12252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83680" y="122529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72200" y="1645920"/>
            <a:ext cx="233172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return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stats (3/5d)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&amp; volatility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2807208"/>
            <a:ext cx="2606040" cy="1508760"/>
          </a:xfrm>
          <a:prstGeom prst="rect">
            <a:avLst/>
          </a:prstGeom>
          <a:solidFill>
            <a:srgbClr val="1E2A50"/>
          </a:solidFill>
          <a:ln w="12700">
            <a:solidFill>
              <a:srgbClr val="24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11480" y="2807208"/>
            <a:ext cx="64008" cy="15087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48640" y="2935224"/>
            <a:ext cx="384048" cy="38404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48640" y="29352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293522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94360" y="3355848"/>
            <a:ext cx="233172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80/20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random shuffle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data leakage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017520" y="3561588"/>
            <a:ext cx="182880" cy="0"/>
          </a:xfrm>
          <a:prstGeom prst="line">
            <a:avLst/>
          </a:prstGeom>
          <a:noFill/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200400" y="2807208"/>
            <a:ext cx="2606040" cy="1508760"/>
          </a:xfrm>
          <a:prstGeom prst="rect">
            <a:avLst/>
          </a:prstGeom>
          <a:solidFill>
            <a:srgbClr val="1E2A50"/>
          </a:solidFill>
          <a:ln w="12700">
            <a:solidFill>
              <a:srgbClr val="24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200400" y="2807208"/>
            <a:ext cx="64008" cy="15087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337560" y="2935224"/>
            <a:ext cx="384048" cy="38404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337560" y="29352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794760" y="293522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383280" y="3355848"/>
            <a:ext cx="233172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Naïve Bayes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(k=3,5,7,9)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806440" y="3561588"/>
            <a:ext cx="182880" cy="0"/>
          </a:xfrm>
          <a:prstGeom prst="line">
            <a:avLst/>
          </a:prstGeom>
          <a:noFill/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989320" y="2807208"/>
            <a:ext cx="2606040" cy="1508760"/>
          </a:xfrm>
          <a:prstGeom prst="rect">
            <a:avLst/>
          </a:prstGeom>
          <a:solidFill>
            <a:srgbClr val="1E2A50"/>
          </a:solidFill>
          <a:ln w="12700">
            <a:solidFill>
              <a:srgbClr val="24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989320" y="2807208"/>
            <a:ext cx="64008" cy="15087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126480" y="2935224"/>
            <a:ext cx="384048" cy="38404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126480" y="29352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583680" y="293522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172200" y="3355848"/>
            <a:ext cx="233172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F1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engineered features → target: next_day_direction (binary)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3931920" cy="1828800"/>
          </a:xfrm>
          <a:prstGeom prst="rect">
            <a:avLst/>
          </a:prstGeom>
          <a:solidFill>
            <a:srgbClr val="1E2A50"/>
          </a:solidFill>
          <a:ln w="12700">
            <a:solidFill>
              <a:srgbClr val="24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11612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Features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472184"/>
            <a:ext cx="365760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daily_return  – % change from prior close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price_range  – high minus low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open_close_diff  – close minus open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1051560"/>
            <a:ext cx="4297680" cy="1828800"/>
          </a:xfrm>
          <a:prstGeom prst="rect">
            <a:avLst/>
          </a:prstGeom>
          <a:solidFill>
            <a:srgbClr val="1E2A50"/>
          </a:solidFill>
          <a:ln w="12700">
            <a:solidFill>
              <a:srgbClr val="24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45152" y="116128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/ Lag Features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45152" y="1472184"/>
            <a:ext cx="402336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return_lag_1  – prior day return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close_mean_3 / close_mean_5  – short-term trend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close_max_5, close_min_5  – recent high/low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return_std_5  – 5-day volatility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volume_mean_5  – 5-day avg volume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017520"/>
            <a:ext cx="8412480" cy="1051560"/>
          </a:xfrm>
          <a:prstGeom prst="rect">
            <a:avLst/>
          </a:prstGeom>
          <a:solidFill>
            <a:srgbClr val="1E2A50"/>
          </a:solidFill>
          <a:ln w="12700">
            <a:solidFill>
              <a:srgbClr val="24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64008" cy="1051560"/>
          </a:xfrm>
          <a:prstGeom prst="rect">
            <a:avLst/>
          </a:prstGeom>
          <a:solidFill>
            <a:srgbClr val="43C59E"/>
          </a:solidFill>
          <a:ln w="12700">
            <a:solidFill>
              <a:srgbClr val="43C5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30906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C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3383280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next_day_direction  =  1  if next day's close &gt; today's close,  else  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Approx. 53% positive class  |  Excludes raw price columns to avoid redundancy with rolling features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4206240"/>
            <a:ext cx="8412480" cy="658368"/>
          </a:xfrm>
          <a:prstGeom prst="rect">
            <a:avLst/>
          </a:prstGeom>
          <a:solidFill>
            <a:srgbClr val="1E2A50"/>
          </a:solidFill>
          <a:ln w="12700">
            <a:solidFill>
              <a:srgbClr val="24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427939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Scaling:  StandardScaler applied for KNN &amp; Naïve Bayes  |  Decision Tree does not require scaling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 &amp; Normalization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Time-aware splitting strategy to prevent data leakage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1005840"/>
          </a:xfrm>
          <a:prstGeom prst="rect">
            <a:avLst/>
          </a:prstGeom>
          <a:solidFill>
            <a:srgbClr val="1E2A50"/>
          </a:solidFill>
          <a:ln w="12700">
            <a:solidFill>
              <a:srgbClr val="24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6035040" cy="6400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 (80%)  –  Earlier dates  |  ~492,799 records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0" y="1188720"/>
            <a:ext cx="2057400" cy="64008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83680" y="118872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(20%)</a:t>
            </a:r>
            <a:endParaRPr lang="en-US" sz="1100" dirty="0"/>
          </a:p>
          <a:p>
            <a:pPr algn="ctr"/>
            <a:r>
              <a:rPr lang="en-US" sz="1100" b="1" dirty="0">
                <a:solidFill>
                  <a:srgbClr val="1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dates| ~123,200 records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4114800" cy="2542032"/>
          </a:xfrm>
          <a:prstGeom prst="rect">
            <a:avLst/>
          </a:prstGeom>
          <a:solidFill>
            <a:srgbClr val="1E2A50"/>
          </a:solidFill>
          <a:ln w="12700">
            <a:solidFill>
              <a:srgbClr val="24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0352" y="23957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Time-Based Split?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" y="2706624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data is a time series, future cannot inform past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splits cause data leakage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records → training, later records → test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validation split - avoids early data leak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286000"/>
            <a:ext cx="4114800" cy="2542032"/>
          </a:xfrm>
          <a:prstGeom prst="rect">
            <a:avLst/>
          </a:prstGeom>
          <a:solidFill>
            <a:srgbClr val="1E2A50"/>
          </a:solidFill>
          <a:ln w="12700">
            <a:solidFill>
              <a:srgbClr val="24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28032" y="23957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Strategy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28032" y="2706624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fitted on train set only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scaler transforms test set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to: KNN &amp; Naïve Bayes features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Tree: no scaling needed (split-based)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Classifier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 = 8  |  Unscaled features  |  Time-based holdout test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472" y="1051560"/>
            <a:ext cx="1572768" cy="1005840"/>
          </a:xfrm>
          <a:prstGeom prst="rect">
            <a:avLst/>
          </a:prstGeom>
          <a:solidFill>
            <a:srgbClr val="1E2A50"/>
          </a:solidFill>
          <a:ln w="12700">
            <a:solidFill>
              <a:srgbClr val="24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1161288"/>
            <a:ext cx="1572768" cy="5532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51.79%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47472" y="1634947"/>
            <a:ext cx="1572768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48256" y="1051560"/>
            <a:ext cx="1572768" cy="1005840"/>
          </a:xfrm>
          <a:prstGeom prst="rect">
            <a:avLst/>
          </a:prstGeom>
          <a:solidFill>
            <a:srgbClr val="1E2A50"/>
          </a:solidFill>
          <a:ln w="12700">
            <a:solidFill>
              <a:srgbClr val="24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48256" y="1161288"/>
            <a:ext cx="1572768" cy="5532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52.88%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048256" y="1634947"/>
            <a:ext cx="1572768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49040" y="1051560"/>
            <a:ext cx="1572768" cy="1005840"/>
          </a:xfrm>
          <a:prstGeom prst="rect">
            <a:avLst/>
          </a:prstGeom>
          <a:solidFill>
            <a:srgbClr val="1E2A50"/>
          </a:solidFill>
          <a:ln w="12700">
            <a:solidFill>
              <a:srgbClr val="24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49040" y="1161288"/>
            <a:ext cx="1572768" cy="5532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3C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74.38%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749040" y="1634947"/>
            <a:ext cx="1572768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49824" y="1051560"/>
            <a:ext cx="1572768" cy="1005840"/>
          </a:xfrm>
          <a:prstGeom prst="rect">
            <a:avLst/>
          </a:prstGeom>
          <a:solidFill>
            <a:srgbClr val="1E2A50"/>
          </a:solidFill>
          <a:ln w="12700">
            <a:solidFill>
              <a:srgbClr val="24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49824" y="1161288"/>
            <a:ext cx="1572768" cy="5532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61.81%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449824" y="1634947"/>
            <a:ext cx="1572768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150608" y="1051560"/>
            <a:ext cx="1572768" cy="1005840"/>
          </a:xfrm>
          <a:prstGeom prst="rect">
            <a:avLst/>
          </a:prstGeom>
          <a:solidFill>
            <a:srgbClr val="1E2A50"/>
          </a:solidFill>
          <a:ln w="12700">
            <a:solidFill>
              <a:srgbClr val="24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150608" y="1161288"/>
            <a:ext cx="1572768" cy="5532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6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0.5124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150608" y="1634947"/>
            <a:ext cx="1572768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graphicFrame>
        <p:nvGraphicFramePr>
          <p:cNvPr id="20" name="Chart 0"/>
          <p:cNvGraphicFramePr/>
          <p:nvPr>
            <p:extLst>
              <p:ext uri="{D42A27DB-BD31-4B8C-83A1-F6EECF244321}">
                <p14:modId xmlns:p14="http://schemas.microsoft.com/office/powerpoint/2010/main" val="1915614863"/>
              </p:ext>
            </p:extLst>
          </p:nvPr>
        </p:nvGraphicFramePr>
        <p:xfrm>
          <a:off x="347472" y="2112264"/>
          <a:ext cx="402336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1" name="Chart 1"/>
          <p:cNvGraphicFramePr/>
          <p:nvPr>
            <p:extLst>
              <p:ext uri="{D42A27DB-BD31-4B8C-83A1-F6EECF244321}">
                <p14:modId xmlns:p14="http://schemas.microsoft.com/office/powerpoint/2010/main" val="2777372175"/>
              </p:ext>
            </p:extLst>
          </p:nvPr>
        </p:nvGraphicFramePr>
        <p:xfrm>
          <a:off x="4700016" y="2112264"/>
          <a:ext cx="402336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2" name="Text 18"/>
          <p:cNvSpPr/>
          <p:nvPr/>
        </p:nvSpPr>
        <p:spPr>
          <a:xfrm>
            <a:off x="347472" y="4695668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X: False Positive Rate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338328" y="210312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Y: True Positive Rate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4709160" y="4718304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X: Recall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4700016" y="2119531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Y: Precision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380211" y="4845041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recall (74%) means the model catches most up-days, but overall accuracy near 52% indicates weak signal.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Naïve Bayes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applied  |  All 10 features  |  Time-based holdout test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472" y="1051560"/>
            <a:ext cx="1572768" cy="1005840"/>
          </a:xfrm>
          <a:prstGeom prst="rect">
            <a:avLst/>
          </a:prstGeom>
          <a:solidFill>
            <a:srgbClr val="1E2A50"/>
          </a:solidFill>
          <a:ln w="12700">
            <a:solidFill>
              <a:srgbClr val="24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1161288"/>
            <a:ext cx="1572768" cy="5532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51.96%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47472" y="1634947"/>
            <a:ext cx="1572768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48256" y="1051560"/>
            <a:ext cx="1572768" cy="1005840"/>
          </a:xfrm>
          <a:prstGeom prst="rect">
            <a:avLst/>
          </a:prstGeom>
          <a:solidFill>
            <a:srgbClr val="1E2A50"/>
          </a:solidFill>
          <a:ln w="12700">
            <a:solidFill>
              <a:srgbClr val="24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48256" y="1161288"/>
            <a:ext cx="1572768" cy="5532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52.51%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048256" y="1634947"/>
            <a:ext cx="1572768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49040" y="1051560"/>
            <a:ext cx="1572768" cy="1005840"/>
          </a:xfrm>
          <a:prstGeom prst="rect">
            <a:avLst/>
          </a:prstGeom>
          <a:solidFill>
            <a:srgbClr val="1E2A50"/>
          </a:solidFill>
          <a:ln w="12700">
            <a:solidFill>
              <a:srgbClr val="24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49040" y="1161288"/>
            <a:ext cx="1572768" cy="5532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3C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87.68%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749040" y="1634947"/>
            <a:ext cx="1572768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49824" y="1051560"/>
            <a:ext cx="1572768" cy="1005840"/>
          </a:xfrm>
          <a:prstGeom prst="rect">
            <a:avLst/>
          </a:prstGeom>
          <a:solidFill>
            <a:srgbClr val="1E2A50"/>
          </a:solidFill>
          <a:ln w="12700">
            <a:solidFill>
              <a:srgbClr val="24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49824" y="1161288"/>
            <a:ext cx="1572768" cy="5532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65.69%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449824" y="1634947"/>
            <a:ext cx="1572768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150608" y="1051560"/>
            <a:ext cx="1572768" cy="1005840"/>
          </a:xfrm>
          <a:prstGeom prst="rect">
            <a:avLst/>
          </a:prstGeom>
          <a:solidFill>
            <a:srgbClr val="1E2A50"/>
          </a:solidFill>
          <a:ln w="12700">
            <a:solidFill>
              <a:srgbClr val="24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150608" y="1161288"/>
            <a:ext cx="1572768" cy="5532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6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0.5040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150608" y="1634947"/>
            <a:ext cx="1572768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graphicFrame>
        <p:nvGraphicFramePr>
          <p:cNvPr id="20" name="Chart 0"/>
          <p:cNvGraphicFramePr/>
          <p:nvPr>
            <p:extLst>
              <p:ext uri="{D42A27DB-BD31-4B8C-83A1-F6EECF244321}">
                <p14:modId xmlns:p14="http://schemas.microsoft.com/office/powerpoint/2010/main" val="2745181571"/>
              </p:ext>
            </p:extLst>
          </p:nvPr>
        </p:nvGraphicFramePr>
        <p:xfrm>
          <a:off x="347472" y="2098996"/>
          <a:ext cx="402336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1" name="Chart 1"/>
          <p:cNvGraphicFramePr/>
          <p:nvPr>
            <p:extLst>
              <p:ext uri="{D42A27DB-BD31-4B8C-83A1-F6EECF244321}">
                <p14:modId xmlns:p14="http://schemas.microsoft.com/office/powerpoint/2010/main" val="897488458"/>
              </p:ext>
            </p:extLst>
          </p:nvPr>
        </p:nvGraphicFramePr>
        <p:xfrm>
          <a:off x="4690872" y="2098996"/>
          <a:ext cx="402336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2" name="Text 18"/>
          <p:cNvSpPr/>
          <p:nvPr/>
        </p:nvSpPr>
        <p:spPr>
          <a:xfrm>
            <a:off x="365760" y="4677156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X: False Positive Rate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329184" y="2112264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Y: True Positive Rate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4709160" y="4681057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X: Recall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4679746" y="2112264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Y: Precision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365760" y="48646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recall of all models (87.7%) — catches nearly all up-days, but with many false positives. AUC barely above chance.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 (KNN)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applied  |  k tested: 3, 5, 7, 9  |  Time-based holdout test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051560"/>
          <a:ext cx="47548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303520" y="1051560"/>
            <a:ext cx="3474720" cy="2743200"/>
          </a:xfrm>
          <a:prstGeom prst="rect">
            <a:avLst/>
          </a:prstGeom>
          <a:solidFill>
            <a:srgbClr val="1E2A50"/>
          </a:solidFill>
          <a:ln w="12700">
            <a:solidFill>
              <a:srgbClr val="24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303520" y="1051560"/>
            <a:ext cx="64008" cy="274320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0" y="114300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k = 3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0" y="1554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178040" y="1574303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50.51%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0" y="1920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178040" y="192024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52.82%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0" y="22860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178040" y="225147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3C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52.95%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0" y="26517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178040" y="2661671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52.88%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0" y="3017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132320" y="3013044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06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0.5046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65760" y="39319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performance is consistently the weakest across all k values. All metrics hover near random baseline (50%).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65760" y="4343400"/>
            <a:ext cx="8412480" cy="658368"/>
          </a:xfrm>
          <a:prstGeom prst="rect">
            <a:avLst/>
          </a:prstGeom>
          <a:solidFill>
            <a:srgbClr val="1E2A50"/>
          </a:solidFill>
          <a:ln w="12700">
            <a:solidFill>
              <a:srgbClr val="24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48640" y="441655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KNN on 600k+ records is computationally intensive. All features scaled via StandardScaler before training.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evaluated on the same time-based holdout test set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005840"/>
          <a:ext cx="841248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2352251"/>
              </p:ext>
            </p:extLst>
          </p:nvPr>
        </p:nvGraphicFramePr>
        <p:xfrm>
          <a:off x="365760" y="3404275"/>
          <a:ext cx="8412480" cy="1718279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523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0B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3C5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A8C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062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1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8C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Naïve Bayes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8C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51.96%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8C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52.51%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8C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87.68%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8C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65.69%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8C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1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8C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8C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51.79%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8C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52.88%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8C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74.38%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8C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61.81%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8C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1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8C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 (k=3)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8C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50.51%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8C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52.82%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8C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52.95%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8C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52.88%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8C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1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8C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 (k=5)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8C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50.38%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8C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52.66%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8C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53.47%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8C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53.06%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8C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1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8C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 (k=7)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8C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50.44%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8C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52.68%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8C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54.18%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8C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53.42%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8C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1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8C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 (k=9)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8C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50.40%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8C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52.62%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8C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54.59%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8C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53.59%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A8C4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Conclusions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next-day stock direction — what we learned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697480" cy="2377440"/>
          </a:xfrm>
          <a:prstGeom prst="rect">
            <a:avLst/>
          </a:prstGeom>
          <a:solidFill>
            <a:srgbClr val="1E2A50"/>
          </a:solidFill>
          <a:ln w="12700">
            <a:solidFill>
              <a:srgbClr val="24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64008" cy="2377440"/>
          </a:xfrm>
          <a:prstGeom prst="rect">
            <a:avLst/>
          </a:prstGeom>
          <a:solidFill>
            <a:srgbClr val="F06292"/>
          </a:solidFill>
          <a:ln w="12700">
            <a:solidFill>
              <a:srgbClr val="F0629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11556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6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Near Random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23317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ranges from 50.4% to 52.0%  barely above the 50% random baseline. Stock direction is inherently difficult to predict with lagged technical features alone.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697480" cy="2377440"/>
          </a:xfrm>
          <a:prstGeom prst="rect">
            <a:avLst/>
          </a:prstGeom>
          <a:solidFill>
            <a:srgbClr val="1E2A50"/>
          </a:solidFill>
          <a:ln w="12700">
            <a:solidFill>
              <a:srgbClr val="24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64008" cy="2377440"/>
          </a:xfrm>
          <a:prstGeom prst="rect">
            <a:avLst/>
          </a:prstGeom>
          <a:solidFill>
            <a:srgbClr val="43C59E"/>
          </a:solidFill>
          <a:ln w="12700">
            <a:solidFill>
              <a:srgbClr val="43C5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0" y="111556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3C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Naïve Bayes: Highest Recall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1508760"/>
            <a:ext cx="23317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achieved 87.7% recall - it identifies most up-days. However, its AUC of 0.504 and low precision suggest it defaults to predicting 'up' too aggressively.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697480" cy="2377440"/>
          </a:xfrm>
          <a:prstGeom prst="rect">
            <a:avLst/>
          </a:prstGeom>
          <a:solidFill>
            <a:srgbClr val="1E2A50"/>
          </a:solidFill>
          <a:ln w="12700">
            <a:solidFill>
              <a:srgbClr val="24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64008" cy="23774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55080" y="111556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Tree: Best Balance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55080" y="1508760"/>
            <a:ext cx="23317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achieved the highest ROC-AUC (0.5124) and a reasonable F1 of 0.618. With max_depth=8, it captures some non-linear patterns better than distance-based models.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611880"/>
            <a:ext cx="8412480" cy="1325880"/>
          </a:xfrm>
          <a:prstGeom prst="rect">
            <a:avLst/>
          </a:prstGeom>
          <a:solidFill>
            <a:srgbClr val="1E2A50"/>
          </a:solidFill>
          <a:ln w="12700">
            <a:solidFill>
              <a:srgbClr val="243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3611880"/>
            <a:ext cx="64008" cy="132588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368503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4005072"/>
            <a:ext cx="804672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splitting is critical for financial time-series - random splits would inflate results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features alone carry weak predictive signal; richer features (sentiment, fundamentals) may improve performance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is unsuitable at scale: distance-based learning on 600k+ rows is costly with minimal gain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991</Words>
  <Application>Microsoft Office PowerPoint</Application>
  <PresentationFormat>On-screen Show (16:9)</PresentationFormat>
  <Paragraphs>209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 Direction Prediction – Data Mining</dc:title>
  <dc:subject>PptxGenJS Presentation</dc:subject>
  <dc:creator>PptxGenJS</dc:creator>
  <cp:lastModifiedBy>Daniels.Saskovs</cp:lastModifiedBy>
  <cp:revision>2</cp:revision>
  <dcterms:created xsi:type="dcterms:W3CDTF">2026-04-20T01:48:57Z</dcterms:created>
  <dcterms:modified xsi:type="dcterms:W3CDTF">2026-04-20T02:15:05Z</dcterms:modified>
</cp:coreProperties>
</file>